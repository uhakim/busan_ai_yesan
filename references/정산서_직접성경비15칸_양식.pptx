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0" r:id="rId1"/>
  </p:sldMasterIdLst>
  <p:notesMasterIdLst>
    <p:notesMasterId r:id="rId8"/>
  </p:notesMasterIdLst>
  <p:handoutMasterIdLst>
    <p:handoutMasterId r:id="rId9"/>
  </p:handoutMasterIdLst>
  <p:sldIdLst>
    <p:sldId id="1247" r:id="rId2"/>
    <p:sldId id="257" r:id="rId3"/>
    <p:sldId id="1189" r:id="rId4"/>
    <p:sldId id="1193" r:id="rId5"/>
    <p:sldId id="1236" r:id="rId6"/>
    <p:sldId id="1248" r:id="rId7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1DC6B9-3B78-4E83-912A-546705EE1BFA}" v="191" dt="2026-06-24T07:25:15.528"/>
    <p1510:client id="{97C39A59-6F93-4FC5-B42A-309ED6245688}" v="1" dt="2026-06-25T04:13:08.729"/>
    <p1510:client id="{985DFB93-DBB0-4185-8322-7F0DEEF61D0B}" v="31" dt="2026-06-25T04:09:53.795"/>
  </p1510:revLst>
</p1510:revInfo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65" autoAdjust="0"/>
    <p:restoredTop sz="94845" autoAdjust="0"/>
  </p:normalViewPr>
  <p:slideViewPr>
    <p:cSldViewPr snapToGrid="0">
      <p:cViewPr varScale="1">
        <p:scale>
          <a:sx n="62" d="100"/>
          <a:sy n="62" d="100"/>
        </p:scale>
        <p:origin x="243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en-US" altLang="ko-KR"/>
              <a:t>'</a:t>
            </a:r>
            <a:r>
              <a:rPr lang="ko-KR" altLang="en-US"/>
              <a:t>질문하는 힘’을 키워주는 프롬프트 엔지니어링 전문가 역량강화 직무연수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2618434A-5174-47D2-A607-3152661454BE}" type="datetime1">
              <a:rPr lang="ko-KR" altLang="en-US"/>
              <a:pPr lvl="0">
                <a:defRPr/>
              </a:pPr>
              <a:t>2026-06-25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1A1BC7F-E443-408F-84E6-D249AEC6962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96102" cy="498056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en-US" altLang="ko-KR"/>
              <a:t>'</a:t>
            </a:r>
            <a:r>
              <a:rPr lang="ko-KR" altLang="en-US"/>
              <a:t>질문하는 </a:t>
            </a:r>
            <a:r>
              <a:rPr lang="ko-KR" altLang="en-US" err="1"/>
              <a:t>힘’을</a:t>
            </a:r>
            <a:r>
              <a:rPr lang="ko-KR" altLang="en-US"/>
              <a:t> 키워주는 프롬프트 엔지니어링 전문가 역량강화 직무연수</a:t>
            </a:r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7B2AEEC4-C9D6-4CC8-8C8C-95CD3D3E616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'</a:t>
            </a:r>
            <a:r>
              <a:rPr lang="ko-KR" altLang="en-US"/>
              <a:t>질문하는 힘’을 키워주는 프롬프트 엔지니어링 전문가 역량강화 직무연수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B2AEEC4-C9D6-4CC8-8C8C-95CD3D3E6161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306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'</a:t>
            </a:r>
            <a:r>
              <a:rPr lang="ko-KR" altLang="en-US"/>
              <a:t>질문하는 힘’을 키워주는 프롬프트 엔지니어링 전문가 역량강화 직무연수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B2AEEC4-C9D6-4CC8-8C8C-95CD3D3E6161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256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머리글 개체 틀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'</a:t>
            </a:r>
            <a:r>
              <a:rPr lang="ko-KR" altLang="en-US"/>
              <a:t>질문하는 힘’을 키워주는 프롬프트 엔지니어링 전문가 역량강화 직무연수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B2AEEC4-C9D6-4CC8-8C8C-95CD3D3E6161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953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DE559CD-A8A6-598F-9635-FDD9311FD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607828"/>
            <a:ext cx="6858000" cy="298172"/>
          </a:xfrm>
        </p:spPr>
        <p:txBody>
          <a:bodyPr/>
          <a:lstStyle>
            <a:lvl1pPr algn="ctr">
              <a:defRPr/>
            </a:lvl1pPr>
          </a:lstStyle>
          <a:p>
            <a:fld id="{BA2B49F5-5A55-4F35-9D5E-CB13E05839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092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8A5E5EF-EE1F-4472-81A8-A9C5FE6FAD35}"/>
              </a:ext>
            </a:extLst>
          </p:cNvPr>
          <p:cNvSpPr/>
          <p:nvPr userDrawn="1"/>
        </p:nvSpPr>
        <p:spPr>
          <a:xfrm>
            <a:off x="145774" y="53008"/>
            <a:ext cx="132522" cy="47707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80ACEE6-CE35-4416-A627-DC7F4146BA01}"/>
              </a:ext>
            </a:extLst>
          </p:cNvPr>
          <p:cNvCxnSpPr>
            <a:cxnSpLocks/>
          </p:cNvCxnSpPr>
          <p:nvPr userDrawn="1"/>
        </p:nvCxnSpPr>
        <p:spPr>
          <a:xfrm>
            <a:off x="502920" y="1127866"/>
            <a:ext cx="5913120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B9DD889-2D0D-4A75-8814-274567B8A6D7}"/>
              </a:ext>
            </a:extLst>
          </p:cNvPr>
          <p:cNvSpPr/>
          <p:nvPr userDrawn="1"/>
        </p:nvSpPr>
        <p:spPr>
          <a:xfrm>
            <a:off x="369446" y="1164937"/>
            <a:ext cx="39090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2000" b="1" dirty="0">
                <a:latin typeface="맑은 고딕" panose="020B0503020000020004" pitchFamily="50" charset="-127"/>
              </a:rPr>
              <a:t>Ⅰ-1. </a:t>
            </a:r>
            <a:r>
              <a:rPr lang="ko-KR" altLang="en-US" sz="2000" b="1" dirty="0">
                <a:latin typeface="맑은 고딕" panose="020B0503020000020004" pitchFamily="50" charset="-127"/>
              </a:rPr>
              <a:t>총괄 </a:t>
            </a:r>
            <a:r>
              <a:rPr lang="ko-KR" altLang="en-US" sz="2000" b="1" dirty="0" err="1">
                <a:latin typeface="맑은 고딕" panose="020B0503020000020004" pitchFamily="50" charset="-127"/>
              </a:rPr>
              <a:t>지출표</a:t>
            </a:r>
            <a:endParaRPr lang="ko-KR" altLang="en-US" sz="2000" b="1" dirty="0">
              <a:latin typeface="맑은 고딕" panose="020B0503020000020004" pitchFamily="50" charset="-127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92BB9EA-9048-4A88-B627-6DAB67C5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607828"/>
            <a:ext cx="6858000" cy="298172"/>
          </a:xfrm>
        </p:spPr>
        <p:txBody>
          <a:bodyPr/>
          <a:lstStyle>
            <a:lvl1pPr algn="ctr">
              <a:defRPr/>
            </a:lvl1pPr>
          </a:lstStyle>
          <a:p>
            <a:fld id="{BA2B49F5-5A55-4F35-9D5E-CB13E058399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B297030-FDCE-BB9C-6A8D-3683F6366022}"/>
              </a:ext>
            </a:extLst>
          </p:cNvPr>
          <p:cNvSpPr/>
          <p:nvPr userDrawn="1"/>
        </p:nvSpPr>
        <p:spPr>
          <a:xfrm>
            <a:off x="311585" y="53009"/>
            <a:ext cx="2851339" cy="477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디지털 기반 교육혁신 직무연수</a:t>
            </a:r>
          </a:p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교원 연수 동아리 정산서 및 집행내역</a:t>
            </a:r>
            <a:endParaRPr lang="ko-KR" altLang="ko-KR" sz="1050" b="0" i="0" u="none" strike="noStrike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77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8A5E5EF-EE1F-4472-81A8-A9C5FE6FAD35}"/>
              </a:ext>
            </a:extLst>
          </p:cNvPr>
          <p:cNvSpPr/>
          <p:nvPr userDrawn="1"/>
        </p:nvSpPr>
        <p:spPr>
          <a:xfrm>
            <a:off x="145774" y="53008"/>
            <a:ext cx="132522" cy="47707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6B482A-87E7-4021-AD33-0616ACDAFDCE}"/>
              </a:ext>
            </a:extLst>
          </p:cNvPr>
          <p:cNvSpPr/>
          <p:nvPr userDrawn="1"/>
        </p:nvSpPr>
        <p:spPr>
          <a:xfrm>
            <a:off x="338966" y="106017"/>
            <a:ext cx="6373260" cy="477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40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B9DD889-2D0D-4A75-8814-274567B8A6D7}"/>
              </a:ext>
            </a:extLst>
          </p:cNvPr>
          <p:cNvSpPr/>
          <p:nvPr userDrawn="1"/>
        </p:nvSpPr>
        <p:spPr>
          <a:xfrm>
            <a:off x="369446" y="770216"/>
            <a:ext cx="39090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2000" b="1">
                <a:latin typeface="맑은 고딕" panose="020B0503020000020004" pitchFamily="50" charset="-127"/>
              </a:rPr>
              <a:t>Ⅰ-1. </a:t>
            </a:r>
            <a:r>
              <a:rPr lang="ko-KR" altLang="en-US" sz="2000" b="1">
                <a:latin typeface="맑은 고딕" panose="020B0503020000020004" pitchFamily="50" charset="-127"/>
              </a:rPr>
              <a:t>총괄 정산서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CD60C17-C6B7-4686-3A5C-52B171030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607828"/>
            <a:ext cx="6858000" cy="298172"/>
          </a:xfrm>
        </p:spPr>
        <p:txBody>
          <a:bodyPr/>
          <a:lstStyle>
            <a:lvl1pPr algn="ctr">
              <a:defRPr/>
            </a:lvl1pPr>
          </a:lstStyle>
          <a:p>
            <a:fld id="{BA2B49F5-5A55-4F35-9D5E-CB13E058399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206FDCD-77AD-7D71-5588-FB9B78F147D5}"/>
              </a:ext>
            </a:extLst>
          </p:cNvPr>
          <p:cNvSpPr/>
          <p:nvPr userDrawn="1"/>
        </p:nvSpPr>
        <p:spPr>
          <a:xfrm>
            <a:off x="311585" y="53009"/>
            <a:ext cx="2851339" cy="477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디지털 기반 교육혁신 직무연수</a:t>
            </a:r>
          </a:p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교원 연수 동아리 정산서 및 집행내역</a:t>
            </a:r>
            <a:endParaRPr lang="ko-KR" altLang="ko-KR" sz="1050" b="0" i="0" u="none" strike="noStrike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204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8A5E5EF-EE1F-4472-81A8-A9C5FE6FAD35}"/>
              </a:ext>
            </a:extLst>
          </p:cNvPr>
          <p:cNvSpPr/>
          <p:nvPr userDrawn="1"/>
        </p:nvSpPr>
        <p:spPr>
          <a:xfrm>
            <a:off x="145774" y="53008"/>
            <a:ext cx="132522" cy="47707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6B482A-87E7-4021-AD33-0616ACDAFDCE}"/>
              </a:ext>
            </a:extLst>
          </p:cNvPr>
          <p:cNvSpPr/>
          <p:nvPr userDrawn="1"/>
        </p:nvSpPr>
        <p:spPr>
          <a:xfrm>
            <a:off x="338966" y="106017"/>
            <a:ext cx="6373260" cy="477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40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FC57DF-FFF2-A58F-71C7-7A197D7E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607828"/>
            <a:ext cx="6858000" cy="298172"/>
          </a:xfrm>
        </p:spPr>
        <p:txBody>
          <a:bodyPr/>
          <a:lstStyle>
            <a:lvl1pPr algn="ctr">
              <a:defRPr/>
            </a:lvl1pPr>
          </a:lstStyle>
          <a:p>
            <a:fld id="{BA2B49F5-5A55-4F35-9D5E-CB13E058399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760D0E-7D13-3653-1D55-3FF7F8BDF16A}"/>
              </a:ext>
            </a:extLst>
          </p:cNvPr>
          <p:cNvSpPr/>
          <p:nvPr userDrawn="1"/>
        </p:nvSpPr>
        <p:spPr>
          <a:xfrm>
            <a:off x="311585" y="53009"/>
            <a:ext cx="2851339" cy="477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디지털 기반 교육혁신 직무연수</a:t>
            </a:r>
          </a:p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교원 연수 동아리 정산서 및 집행내역</a:t>
            </a:r>
            <a:endParaRPr lang="ko-KR" altLang="ko-KR" sz="1050" b="0" i="0" u="none" strike="noStrike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694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연구 활동비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8A5E5EF-EE1F-4472-81A8-A9C5FE6FAD35}"/>
              </a:ext>
            </a:extLst>
          </p:cNvPr>
          <p:cNvSpPr/>
          <p:nvPr userDrawn="1"/>
        </p:nvSpPr>
        <p:spPr>
          <a:xfrm>
            <a:off x="145774" y="53008"/>
            <a:ext cx="132522" cy="47707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B9DD889-2D0D-4A75-8814-274567B8A6D7}"/>
              </a:ext>
            </a:extLst>
          </p:cNvPr>
          <p:cNvSpPr/>
          <p:nvPr userDrawn="1"/>
        </p:nvSpPr>
        <p:spPr>
          <a:xfrm>
            <a:off x="338965" y="823224"/>
            <a:ext cx="58100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2000" b="1" dirty="0">
                <a:latin typeface="맑은 고딕" panose="020B0503020000020004" pitchFamily="50" charset="-127"/>
              </a:rPr>
              <a:t>Ⅰ-2.</a:t>
            </a:r>
            <a:r>
              <a:rPr lang="ko-KR" altLang="en-US" sz="2000" b="1" dirty="0">
                <a:latin typeface="맑은 고딕" panose="020B0503020000020004" pitchFamily="50" charset="-127"/>
              </a:rPr>
              <a:t> 연구 활동비 지출 세부 내역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9568E3-D478-92EF-0A9A-97579D513D72}"/>
              </a:ext>
            </a:extLst>
          </p:cNvPr>
          <p:cNvSpPr/>
          <p:nvPr userDrawn="1"/>
        </p:nvSpPr>
        <p:spPr>
          <a:xfrm>
            <a:off x="311585" y="53009"/>
            <a:ext cx="2851339" cy="477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디지털 기반 교육혁신 직무연수</a:t>
            </a:r>
          </a:p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교원 연수 동아리 정산서 및 집행내역</a:t>
            </a:r>
            <a:endParaRPr lang="ko-KR" altLang="ko-KR" sz="105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D52AD37-736D-D0ED-1F66-45F1F3E72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607828"/>
            <a:ext cx="6858000" cy="298172"/>
          </a:xfrm>
        </p:spPr>
        <p:txBody>
          <a:bodyPr/>
          <a:lstStyle>
            <a:lvl1pPr algn="ctr">
              <a:defRPr/>
            </a:lvl1pPr>
          </a:lstStyle>
          <a:p>
            <a:fld id="{BA2B49F5-5A55-4F35-9D5E-CB13E05839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358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연수 운영비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8A5E5EF-EE1F-4472-81A8-A9C5FE6FAD35}"/>
              </a:ext>
            </a:extLst>
          </p:cNvPr>
          <p:cNvSpPr/>
          <p:nvPr userDrawn="1"/>
        </p:nvSpPr>
        <p:spPr>
          <a:xfrm>
            <a:off x="145774" y="53008"/>
            <a:ext cx="132522" cy="47707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6B482A-87E7-4021-AD33-0616ACDAFDCE}"/>
              </a:ext>
            </a:extLst>
          </p:cNvPr>
          <p:cNvSpPr/>
          <p:nvPr userDrawn="1"/>
        </p:nvSpPr>
        <p:spPr>
          <a:xfrm>
            <a:off x="338966" y="106017"/>
            <a:ext cx="6373260" cy="477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40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E6E0633-43A7-CFAD-1B53-D409555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607828"/>
            <a:ext cx="6858000" cy="298172"/>
          </a:xfrm>
        </p:spPr>
        <p:txBody>
          <a:bodyPr/>
          <a:lstStyle>
            <a:lvl1pPr algn="ctr">
              <a:defRPr/>
            </a:lvl1pPr>
          </a:lstStyle>
          <a:p>
            <a:fld id="{BA2B49F5-5A55-4F35-9D5E-CB13E058399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3A5CDB-707F-A7DE-1DD1-3326CB5C01D1}"/>
              </a:ext>
            </a:extLst>
          </p:cNvPr>
          <p:cNvSpPr/>
          <p:nvPr userDrawn="1"/>
        </p:nvSpPr>
        <p:spPr>
          <a:xfrm>
            <a:off x="311585" y="53009"/>
            <a:ext cx="2851339" cy="477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디지털 기반 교육혁신 직무연수</a:t>
            </a:r>
          </a:p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교원 연수 동아리 정산서 및 집행내역</a:t>
            </a:r>
            <a:endParaRPr lang="ko-KR" altLang="ko-KR" sz="105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1A7248-26FD-2A0D-4CDB-3358036CB653}"/>
              </a:ext>
            </a:extLst>
          </p:cNvPr>
          <p:cNvSpPr/>
          <p:nvPr userDrawn="1"/>
        </p:nvSpPr>
        <p:spPr>
          <a:xfrm>
            <a:off x="338965" y="823224"/>
            <a:ext cx="58100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2000" b="1" dirty="0">
                <a:latin typeface="맑은 고딕" panose="020B0503020000020004" pitchFamily="50" charset="-127"/>
              </a:rPr>
              <a:t>Ⅰ-3.</a:t>
            </a:r>
            <a:r>
              <a:rPr lang="ko-KR" altLang="en-US" sz="2000" b="1" dirty="0">
                <a:latin typeface="맑은 고딕" panose="020B0503020000020004" pitchFamily="50" charset="-127"/>
              </a:rPr>
              <a:t> 연수 운영비 지출 세부 내역</a:t>
            </a:r>
          </a:p>
        </p:txBody>
      </p:sp>
    </p:spTree>
    <p:extLst>
      <p:ext uri="{BB962C8B-B14F-4D97-AF65-F5344CB8AC3E}">
        <p14:creationId xmlns:p14="http://schemas.microsoft.com/office/powerpoint/2010/main" val="4262820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직접성 경비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8A5E5EF-EE1F-4472-81A8-A9C5FE6FAD35}"/>
              </a:ext>
            </a:extLst>
          </p:cNvPr>
          <p:cNvSpPr/>
          <p:nvPr userDrawn="1"/>
        </p:nvSpPr>
        <p:spPr>
          <a:xfrm>
            <a:off x="145774" y="53008"/>
            <a:ext cx="132522" cy="47707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6B482A-87E7-4021-AD33-0616ACDAFDCE}"/>
              </a:ext>
            </a:extLst>
          </p:cNvPr>
          <p:cNvSpPr/>
          <p:nvPr userDrawn="1"/>
        </p:nvSpPr>
        <p:spPr>
          <a:xfrm>
            <a:off x="338966" y="106017"/>
            <a:ext cx="6373260" cy="477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40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E6E0633-43A7-CFAD-1B53-D409555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607828"/>
            <a:ext cx="6858000" cy="298172"/>
          </a:xfrm>
        </p:spPr>
        <p:txBody>
          <a:bodyPr/>
          <a:lstStyle>
            <a:lvl1pPr algn="ctr">
              <a:defRPr/>
            </a:lvl1pPr>
          </a:lstStyle>
          <a:p>
            <a:fld id="{BA2B49F5-5A55-4F35-9D5E-CB13E058399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3A5CDB-707F-A7DE-1DD1-3326CB5C01D1}"/>
              </a:ext>
            </a:extLst>
          </p:cNvPr>
          <p:cNvSpPr/>
          <p:nvPr userDrawn="1"/>
        </p:nvSpPr>
        <p:spPr>
          <a:xfrm>
            <a:off x="311585" y="53009"/>
            <a:ext cx="2851339" cy="477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디지털 기반 교육혁신 직무연수</a:t>
            </a:r>
          </a:p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교원 연수 동아리 정산서 및 집행내역</a:t>
            </a:r>
            <a:endParaRPr lang="ko-KR" altLang="ko-KR" sz="105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1A7248-26FD-2A0D-4CDB-3358036CB653}"/>
              </a:ext>
            </a:extLst>
          </p:cNvPr>
          <p:cNvSpPr/>
          <p:nvPr userDrawn="1"/>
        </p:nvSpPr>
        <p:spPr>
          <a:xfrm>
            <a:off x="338965" y="823224"/>
            <a:ext cx="58100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2000" b="1" dirty="0">
                <a:latin typeface="맑은 고딕" panose="020B0503020000020004" pitchFamily="50" charset="-127"/>
              </a:rPr>
              <a:t>Ⅰ-4.</a:t>
            </a:r>
            <a:r>
              <a:rPr lang="ko-KR" altLang="en-US" sz="2000" b="1" dirty="0">
                <a:latin typeface="맑은 고딕" panose="020B0503020000020004" pitchFamily="50" charset="-127"/>
              </a:rPr>
              <a:t> 직접성 경비 지출 세부 내역</a:t>
            </a:r>
          </a:p>
        </p:txBody>
      </p:sp>
    </p:spTree>
    <p:extLst>
      <p:ext uri="{BB962C8B-B14F-4D97-AF65-F5344CB8AC3E}">
        <p14:creationId xmlns:p14="http://schemas.microsoft.com/office/powerpoint/2010/main" val="2172422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업무 협의회비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F8A5E5EF-EE1F-4472-81A8-A9C5FE6FAD35}"/>
              </a:ext>
            </a:extLst>
          </p:cNvPr>
          <p:cNvSpPr/>
          <p:nvPr userDrawn="1"/>
        </p:nvSpPr>
        <p:spPr>
          <a:xfrm>
            <a:off x="145774" y="53008"/>
            <a:ext cx="132522" cy="47707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6B482A-87E7-4021-AD33-0616ACDAFDCE}"/>
              </a:ext>
            </a:extLst>
          </p:cNvPr>
          <p:cNvSpPr/>
          <p:nvPr userDrawn="1"/>
        </p:nvSpPr>
        <p:spPr>
          <a:xfrm>
            <a:off x="338966" y="106017"/>
            <a:ext cx="6373260" cy="477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 sz="140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E6E0633-43A7-CFAD-1B53-D409555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9607828"/>
            <a:ext cx="6858000" cy="298172"/>
          </a:xfrm>
        </p:spPr>
        <p:txBody>
          <a:bodyPr/>
          <a:lstStyle>
            <a:lvl1pPr algn="ctr">
              <a:defRPr/>
            </a:lvl1pPr>
          </a:lstStyle>
          <a:p>
            <a:fld id="{BA2B49F5-5A55-4F35-9D5E-CB13E058399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73A5CDB-707F-A7DE-1DD1-3326CB5C01D1}"/>
              </a:ext>
            </a:extLst>
          </p:cNvPr>
          <p:cNvSpPr/>
          <p:nvPr userDrawn="1"/>
        </p:nvSpPr>
        <p:spPr>
          <a:xfrm>
            <a:off x="311585" y="53009"/>
            <a:ext cx="2851339" cy="4770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2026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년 </a:t>
            </a:r>
            <a:r>
              <a:rPr lang="en-US" altLang="ko-KR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AI</a:t>
            </a: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디지털 기반 교육혁신 직무연수</a:t>
            </a:r>
          </a:p>
          <a:p>
            <a:pPr marL="0" marR="0" indent="0" algn="ctr" rtl="0" eaLnBrk="1" fontAlgn="base" latinLnBrk="0" hangingPunct="1">
              <a:lnSpc>
                <a:spcPct val="120000"/>
              </a:lnSpc>
              <a:buNone/>
            </a:pPr>
            <a:r>
              <a:rPr lang="ko-KR" altLang="en-US" sz="1200" b="1" i="0" u="none" strike="noStrike" spc="-90" dirty="0">
                <a:solidFill>
                  <a:srgbClr val="000000"/>
                </a:solidFill>
                <a:effectLst/>
                <a:latin typeface="HY헤드라인M" panose="02030600000101010101" pitchFamily="18" charset="-127"/>
                <a:ea typeface="HY헤드라인M" panose="02030600000101010101" pitchFamily="18" charset="-127"/>
              </a:rPr>
              <a:t>교원 연수 동아리 정산서 및 집행내역</a:t>
            </a:r>
            <a:endParaRPr lang="ko-KR" altLang="ko-KR" sz="105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1A7248-26FD-2A0D-4CDB-3358036CB653}"/>
              </a:ext>
            </a:extLst>
          </p:cNvPr>
          <p:cNvSpPr/>
          <p:nvPr userDrawn="1"/>
        </p:nvSpPr>
        <p:spPr>
          <a:xfrm>
            <a:off x="338965" y="823224"/>
            <a:ext cx="581004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ko-KR" sz="2000" b="1" dirty="0">
                <a:latin typeface="맑은 고딕" panose="020B0503020000020004" pitchFamily="50" charset="-127"/>
              </a:rPr>
              <a:t>Ⅰ-5.</a:t>
            </a:r>
            <a:r>
              <a:rPr lang="ko-KR" altLang="en-US" sz="2000" b="1" dirty="0">
                <a:latin typeface="맑은 고딕" panose="020B0503020000020004" pitchFamily="50" charset="-127"/>
              </a:rPr>
              <a:t> 업무 협의회비 지출 세부 내역</a:t>
            </a:r>
          </a:p>
        </p:txBody>
      </p:sp>
    </p:spTree>
    <p:extLst>
      <p:ext uri="{BB962C8B-B14F-4D97-AF65-F5344CB8AC3E}">
        <p14:creationId xmlns:p14="http://schemas.microsoft.com/office/powerpoint/2010/main" val="55146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BA2B49F5-5A55-4F35-9D5E-CB13E05839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79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4" r:id="rId3"/>
    <p:sldLayoutId id="2147483676" r:id="rId4"/>
    <p:sldLayoutId id="2147483673" r:id="rId5"/>
    <p:sldLayoutId id="2147483675" r:id="rId6"/>
    <p:sldLayoutId id="2147483681" r:id="rId7"/>
    <p:sldLayoutId id="2147483682" r:id="rId8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맑은 고딕" panose="020B0503020000020004" pitchFamily="50" charset="-127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65CDCB3-BCBB-61CF-B740-EAA9F47E5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789745"/>
              </p:ext>
            </p:extLst>
          </p:nvPr>
        </p:nvGraphicFramePr>
        <p:xfrm>
          <a:off x="455833" y="1801610"/>
          <a:ext cx="5915025" cy="1252816"/>
        </p:xfrm>
        <a:graphic>
          <a:graphicData uri="http://schemas.openxmlformats.org/drawingml/2006/table">
            <a:tbl>
              <a:tblPr/>
              <a:tblGrid>
                <a:gridCol w="2974674">
                  <a:extLst>
                    <a:ext uri="{9D8B030D-6E8A-4147-A177-3AD203B41FA5}">
                      <a16:colId xmlns:a16="http://schemas.microsoft.com/office/drawing/2014/main" val="965664549"/>
                    </a:ext>
                  </a:extLst>
                </a:gridCol>
                <a:gridCol w="2940351">
                  <a:extLst>
                    <a:ext uri="{9D8B030D-6E8A-4147-A177-3AD203B41FA5}">
                      <a16:colId xmlns:a16="http://schemas.microsoft.com/office/drawing/2014/main" val="21413360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00" dirty="0">
                        <a:effectLst/>
                      </a:endParaRPr>
                    </a:p>
                  </a:txBody>
                  <a:tcPr marL="88896" marR="88896" marT="44448" marB="44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9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00" dirty="0">
                        <a:effectLst/>
                      </a:endParaRPr>
                    </a:p>
                  </a:txBody>
                  <a:tcPr marL="88896" marR="88896" marT="44448" marB="44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426323"/>
                  </a:ext>
                </a:extLst>
              </a:tr>
              <a:tr h="1024224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2200" b="1" kern="0" spc="-9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2026</a:t>
                      </a:r>
                      <a:r>
                        <a:rPr lang="ko-KR" altLang="en-US" sz="2200" b="1" kern="0" spc="-9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년 </a:t>
                      </a:r>
                      <a:r>
                        <a:rPr lang="en-US" altLang="ko-KR" sz="2200" b="1" kern="0" spc="-9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AI</a:t>
                      </a:r>
                      <a:r>
                        <a:rPr lang="ko-KR" altLang="en-US" sz="2200" b="1" kern="0" spc="-9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디지털 기반 교육혁신 직무연수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2200" b="1" kern="0" spc="-90" dirty="0">
                          <a:solidFill>
                            <a:srgbClr val="000000"/>
                          </a:solidFill>
                          <a:effectLst/>
                          <a:latin typeface="HY헤드라인M" panose="02030600000101010101" pitchFamily="18" charset="-127"/>
                          <a:ea typeface="HY헤드라인M" panose="02030600000101010101" pitchFamily="18" charset="-127"/>
                        </a:rPr>
                        <a:t>교원 연수 동아리 정산서 및 집행내역</a:t>
                      </a:r>
                      <a:endParaRPr lang="ko-KR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88896" marR="88896" marT="44448" marB="44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720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00" dirty="0">
                        <a:effectLst/>
                      </a:endParaRPr>
                    </a:p>
                  </a:txBody>
                  <a:tcPr marL="88896" marR="88896" marT="44448" marB="44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99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sz="100" dirty="0">
                        <a:effectLst/>
                      </a:endParaRPr>
                    </a:p>
                  </a:txBody>
                  <a:tcPr marL="88896" marR="88896" marT="44448" marB="444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531784"/>
                  </a:ext>
                </a:extLst>
              </a:tr>
            </a:tbl>
          </a:graphicData>
        </a:graphic>
      </p:graphicFrame>
      <p:pic>
        <p:nvPicPr>
          <p:cNvPr id="5" name="Picture 1">
            <a:extLst>
              <a:ext uri="{FF2B5EF4-FFF2-40B4-BE49-F238E27FC236}">
                <a16:creationId xmlns:a16="http://schemas.microsoft.com/office/drawing/2014/main" id="{13857D9D-7CF1-650B-D582-B9E87C6DE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066" y="628431"/>
            <a:ext cx="2273046" cy="809117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883FC15-0925-6510-7D7E-D80B7C0CB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149032"/>
              </p:ext>
            </p:extLst>
          </p:nvPr>
        </p:nvGraphicFramePr>
        <p:xfrm>
          <a:off x="455833" y="3589814"/>
          <a:ext cx="5925461" cy="5482626"/>
        </p:xfrm>
        <a:graphic>
          <a:graphicData uri="http://schemas.openxmlformats.org/drawingml/2006/table">
            <a:tbl>
              <a:tblPr/>
              <a:tblGrid>
                <a:gridCol w="849726">
                  <a:extLst>
                    <a:ext uri="{9D8B030D-6E8A-4147-A177-3AD203B41FA5}">
                      <a16:colId xmlns:a16="http://schemas.microsoft.com/office/drawing/2014/main" val="668308941"/>
                    </a:ext>
                  </a:extLst>
                </a:gridCol>
                <a:gridCol w="663015">
                  <a:extLst>
                    <a:ext uri="{9D8B030D-6E8A-4147-A177-3AD203B41FA5}">
                      <a16:colId xmlns:a16="http://schemas.microsoft.com/office/drawing/2014/main" val="3057934251"/>
                    </a:ext>
                  </a:extLst>
                </a:gridCol>
                <a:gridCol w="663015">
                  <a:extLst>
                    <a:ext uri="{9D8B030D-6E8A-4147-A177-3AD203B41FA5}">
                      <a16:colId xmlns:a16="http://schemas.microsoft.com/office/drawing/2014/main" val="2752078442"/>
                    </a:ext>
                  </a:extLst>
                </a:gridCol>
                <a:gridCol w="768832">
                  <a:extLst>
                    <a:ext uri="{9D8B030D-6E8A-4147-A177-3AD203B41FA5}">
                      <a16:colId xmlns:a16="http://schemas.microsoft.com/office/drawing/2014/main" val="615373309"/>
                    </a:ext>
                  </a:extLst>
                </a:gridCol>
                <a:gridCol w="557198">
                  <a:extLst>
                    <a:ext uri="{9D8B030D-6E8A-4147-A177-3AD203B41FA5}">
                      <a16:colId xmlns:a16="http://schemas.microsoft.com/office/drawing/2014/main" val="2046761098"/>
                    </a:ext>
                  </a:extLst>
                </a:gridCol>
                <a:gridCol w="574916">
                  <a:extLst>
                    <a:ext uri="{9D8B030D-6E8A-4147-A177-3AD203B41FA5}">
                      <a16:colId xmlns:a16="http://schemas.microsoft.com/office/drawing/2014/main" val="2838402785"/>
                    </a:ext>
                  </a:extLst>
                </a:gridCol>
                <a:gridCol w="751114">
                  <a:extLst>
                    <a:ext uri="{9D8B030D-6E8A-4147-A177-3AD203B41FA5}">
                      <a16:colId xmlns:a16="http://schemas.microsoft.com/office/drawing/2014/main" val="2269404429"/>
                    </a:ext>
                  </a:extLst>
                </a:gridCol>
                <a:gridCol w="1097645">
                  <a:extLst>
                    <a:ext uri="{9D8B030D-6E8A-4147-A177-3AD203B41FA5}">
                      <a16:colId xmlns:a16="http://schemas.microsoft.com/office/drawing/2014/main" val="1096915809"/>
                    </a:ext>
                  </a:extLst>
                </a:gridCol>
              </a:tblGrid>
              <a:tr h="52733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학교명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학교명 </a:t>
                      </a:r>
                      <a:endParaRPr lang="ko-KR" sz="1200" spc="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학교장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성 명</a:t>
                      </a:r>
                      <a:endParaRPr lang="ko-KR" sz="1400" spc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800" kern="0" spc="-9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학교장</a:t>
                      </a:r>
                      <a:endParaRPr lang="ko-KR" sz="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800" kern="0" spc="-9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성 명</a:t>
                      </a:r>
                      <a:endParaRPr lang="ko-KR" altLang="en-US" dirty="0"/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학교장 성명</a:t>
                      </a:r>
                      <a:endParaRPr lang="ko-KR" sz="1200" spc="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751264"/>
                  </a:ext>
                </a:extLst>
              </a:tr>
              <a:tr h="52733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 소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학교 주소</a:t>
                      </a:r>
                      <a:endParaRPr lang="ko-KR" sz="1200" spc="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학교대표</a:t>
                      </a:r>
                      <a:endParaRPr lang="ko-KR" sz="105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전화번호</a:t>
                      </a:r>
                      <a:endParaRPr lang="ko-KR" sz="1400" spc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800" kern="0" spc="-9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학교대표</a:t>
                      </a:r>
                      <a:endParaRPr lang="ko-KR" sz="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800" kern="0" spc="-9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전화번호</a:t>
                      </a:r>
                      <a:endParaRPr lang="ko-KR" altLang="en-US" dirty="0"/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학교 대표 전화 번호</a:t>
                      </a:r>
                      <a:endParaRPr lang="ko-KR" sz="1200" spc="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700874"/>
                  </a:ext>
                </a:extLst>
              </a:tr>
              <a:tr h="36127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담당자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성명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성명</a:t>
                      </a:r>
                      <a:endParaRPr lang="ko-KR" sz="1100" spc="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휴대전화</a:t>
                      </a:r>
                      <a:endParaRPr lang="ko-KR" sz="1400" spc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sz="800" kern="0" spc="-9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휴대전화</a:t>
                      </a:r>
                      <a:endParaRPr lang="ko-KR" altLang="en-US" dirty="0"/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휴대전화</a:t>
                      </a:r>
                      <a:endParaRPr lang="ko-KR" sz="1200" spc="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49695"/>
                  </a:ext>
                </a:extLst>
              </a:tr>
              <a:tr h="3612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이메일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이메일 주소</a:t>
                      </a:r>
                      <a:endParaRPr lang="ko-KR" sz="1100" spc="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45494"/>
                  </a:ext>
                </a:extLst>
              </a:tr>
              <a:tr h="36127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운영비 실적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총괄표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운영비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집행액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endParaRPr lang="ko-KR" sz="6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집행잔액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이자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163461"/>
                  </a:ext>
                </a:extLst>
              </a:tr>
              <a:tr h="3612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spc="0" dirty="0">
                          <a:effectLst/>
                          <a:latin typeface="+mn-ea"/>
                          <a:ea typeface="+mn-ea"/>
                        </a:rPr>
                        <a:t>2,000,000</a:t>
                      </a:r>
                      <a:endParaRPr lang="ko-KR" sz="1400" spc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사용 금액</a:t>
                      </a:r>
                      <a:endParaRPr lang="ko-KR" sz="1400" spc="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ko-KR" sz="900">
                        <a:effectLst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운영비</a:t>
                      </a:r>
                      <a:r>
                        <a:rPr lang="en-US" altLang="ko-KR" sz="1400" spc="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400" spc="0" dirty="0" err="1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집행핵</a:t>
                      </a:r>
                      <a:endParaRPr lang="ko-KR" sz="1400" spc="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spc="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sz="1400" spc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800489"/>
                  </a:ext>
                </a:extLst>
              </a:tr>
              <a:tr h="2982860">
                <a:tc gridSpan="8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2026년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동아리팀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관련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정산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보고서를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제출합니다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붙임 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집행 내역 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끝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buNone/>
                      </a:pP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l" fontAlgn="base" latinLnBrk="0">
                        <a:lnSpc>
                          <a:spcPct val="130000"/>
                        </a:lnSpc>
                        <a:buNone/>
                      </a:pP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r>
                        <a:rPr lang="ko-KR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				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학교장 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                    (</a:t>
                      </a:r>
                      <a:r>
                        <a:rPr lang="ko-KR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직인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 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buNone/>
                      </a:pP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63500" marR="63500" indent="0" algn="ctr" fontAlgn="base" latinLnBrk="0">
                        <a:lnSpc>
                          <a:spcPct val="140000"/>
                        </a:lnSpc>
                        <a:buNone/>
                      </a:pPr>
                      <a:r>
                        <a:rPr lang="ko-KR" sz="2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부산광역시교육감 귀하</a:t>
                      </a:r>
                      <a:endParaRPr lang="ko-KR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546" marR="11546" marT="11546" marB="115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106959"/>
                  </a:ext>
                </a:extLst>
              </a:tr>
            </a:tbl>
          </a:graphicData>
        </a:graphic>
      </p:graphicFrame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BE2B0BB-9978-8890-DED6-9DC7AA0BA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49F5-5A55-4F35-9D5E-CB13E058399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92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63CCFBE-1145-90CC-DCC3-5456A8648A32}"/>
              </a:ext>
            </a:extLst>
          </p:cNvPr>
          <p:cNvSpPr txBox="1"/>
          <p:nvPr/>
        </p:nvSpPr>
        <p:spPr>
          <a:xfrm>
            <a:off x="298670" y="704403"/>
            <a:ext cx="6260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동아리명  </a:t>
            </a:r>
            <a:r>
              <a:rPr lang="en-US" altLang="ko-KR" dirty="0"/>
              <a:t>:  00</a:t>
            </a:r>
            <a:r>
              <a:rPr lang="ko-KR" altLang="en-US" dirty="0"/>
              <a:t>학교 </a:t>
            </a:r>
            <a:r>
              <a:rPr lang="en-US" altLang="ko-KR" dirty="0"/>
              <a:t>000</a:t>
            </a:r>
            <a:r>
              <a:rPr lang="ko-KR" altLang="en-US" dirty="0"/>
              <a:t>동아리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8AE1644D-EFA5-4CA3-DB2F-1DD3C04F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49F5-5A55-4F35-9D5E-CB13E0583997}" type="slidenum">
              <a:rPr lang="ko-KR" altLang="en-US" smtClean="0"/>
              <a:pPr/>
              <a:t>2</a:t>
            </a:fld>
            <a:endParaRPr lang="ko-KR" altLang="en-US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32587EC1-67D8-D07C-84AA-D2A85BA52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409079"/>
              </p:ext>
            </p:extLst>
          </p:nvPr>
        </p:nvGraphicFramePr>
        <p:xfrm>
          <a:off x="432196" y="1787752"/>
          <a:ext cx="6006705" cy="223157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31190">
                  <a:extLst>
                    <a:ext uri="{9D8B030D-6E8A-4147-A177-3AD203B41FA5}">
                      <a16:colId xmlns:a16="http://schemas.microsoft.com/office/drawing/2014/main" val="1869433977"/>
                    </a:ext>
                  </a:extLst>
                </a:gridCol>
                <a:gridCol w="2574471">
                  <a:extLst>
                    <a:ext uri="{9D8B030D-6E8A-4147-A177-3AD203B41FA5}">
                      <a16:colId xmlns:a16="http://schemas.microsoft.com/office/drawing/2014/main" val="1432395082"/>
                    </a:ext>
                  </a:extLst>
                </a:gridCol>
                <a:gridCol w="1915886">
                  <a:extLst>
                    <a:ext uri="{9D8B030D-6E8A-4147-A177-3AD203B41FA5}">
                      <a16:colId xmlns:a16="http://schemas.microsoft.com/office/drawing/2014/main" val="3294921392"/>
                    </a:ext>
                  </a:extLst>
                </a:gridCol>
                <a:gridCol w="985158">
                  <a:extLst>
                    <a:ext uri="{9D8B030D-6E8A-4147-A177-3AD203B41FA5}">
                      <a16:colId xmlns:a16="http://schemas.microsoft.com/office/drawing/2014/main" val="2096997350"/>
                    </a:ext>
                  </a:extLst>
                </a:gridCol>
              </a:tblGrid>
              <a:tr h="3438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순번</a:t>
                      </a:r>
                      <a:r>
                        <a:rPr lang="en-US" sz="14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 예산 구분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총 소요 예산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21882291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연구 활동비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50% </a:t>
                      </a:r>
                      <a:r>
                        <a:rPr lang="ko-KR" altLang="en-US" dirty="0"/>
                        <a:t>이내</a:t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2821520218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연수 운영비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dirty="0"/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1555986968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직접성 경비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dirty="0"/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215109345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업무 협의회비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/>
                        <a:t>10% </a:t>
                      </a:r>
                      <a:r>
                        <a:rPr lang="ko-KR" altLang="en-US" dirty="0"/>
                        <a:t>이내</a:t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2077695101"/>
                  </a:ext>
                </a:extLst>
              </a:tr>
              <a:tr h="377555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합계</a:t>
                      </a: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dirty="0"/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dirty="0"/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207691571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51218D19-F351-1D27-895E-3E7C2C36233B}"/>
              </a:ext>
            </a:extLst>
          </p:cNvPr>
          <p:cNvSpPr/>
          <p:nvPr/>
        </p:nvSpPr>
        <p:spPr>
          <a:xfrm>
            <a:off x="305218" y="4410181"/>
            <a:ext cx="6260659" cy="420480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*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파란색 글씨는 최종 제출시 모두 삭제하여 제출 부탁드립니다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[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공통 안내 사항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]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200" b="1" dirty="0">
                <a:solidFill>
                  <a:srgbClr val="0000FF"/>
                </a:solidFill>
                <a:latin typeface="+mn-ea"/>
              </a:rPr>
              <a:t>지정 서식 준수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: 모든 증빙은 『(붙임 2) 참고자료(사전 설명회 자료).</a:t>
            </a:r>
            <a:r>
              <a:rPr lang="ko-KR" altLang="ko-KR" sz="1200" dirty="0" err="1">
                <a:solidFill>
                  <a:srgbClr val="0000FF"/>
                </a:solidFill>
                <a:latin typeface="+mn-ea"/>
              </a:rPr>
              <a:t>pdf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』 내 표준 양식 엄수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200" b="1" dirty="0">
                <a:solidFill>
                  <a:srgbClr val="0000FF"/>
                </a:solidFill>
                <a:latin typeface="+mn-ea"/>
              </a:rPr>
              <a:t>영수증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이체내역서 등</a:t>
            </a:r>
            <a:r>
              <a:rPr lang="ko-KR" altLang="ko-KR" sz="1200" b="1" dirty="0">
                <a:solidFill>
                  <a:srgbClr val="0000FF"/>
                </a:solidFill>
                <a:latin typeface="+mn-ea"/>
              </a:rPr>
              <a:t> 이미지 준수 사항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: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arabicParenR"/>
            </a:pP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세부 내역을 증빙할 영수증</a:t>
            </a:r>
            <a:r>
              <a:rPr lang="en-US" altLang="ko-KR" sz="1200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rgbClr val="0000FF"/>
                </a:solidFill>
                <a:latin typeface="+mn-ea"/>
              </a:rPr>
              <a:t>이체내역서 등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 첨부 필수 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arabicParenR"/>
            </a:pP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이미지 수정 및 편집 절대 금지 (상호, 금액, 품명, 일시 등) 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arabicParenR"/>
            </a:pP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주요 내용 확인이 가능한 선명한 이미지 삽입 (글씨 식별 불가 시 반려)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200" b="1" dirty="0">
                <a:solidFill>
                  <a:srgbClr val="0000FF"/>
                </a:solidFill>
                <a:latin typeface="+mn-ea"/>
              </a:rPr>
              <a:t>전액 집행 원칙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: 미사용 잔액은 전액 반납 대상이므로 가급적 200만 원 전액 집행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200" b="1" dirty="0">
                <a:solidFill>
                  <a:srgbClr val="0000FF"/>
                </a:solidFill>
                <a:latin typeface="+mn-ea"/>
              </a:rPr>
              <a:t>외화 구매 기준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: 해외 툴(GPT 등) 결제 시 외화 영수증 </a:t>
            </a:r>
            <a:r>
              <a:rPr lang="ko-KR" altLang="en-US" sz="1200" dirty="0">
                <a:solidFill>
                  <a:srgbClr val="0000FF"/>
                </a:solidFill>
                <a:latin typeface="+mn-ea"/>
              </a:rPr>
              <a:t>첨부 </a:t>
            </a:r>
            <a:r>
              <a:rPr lang="en-US" altLang="ko-KR" sz="1200" dirty="0">
                <a:solidFill>
                  <a:srgbClr val="0000FF"/>
                </a:solidFill>
                <a:latin typeface="+mn-ea"/>
              </a:rPr>
              <a:t>+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 최종 원화 환전 수수료가 포함된 '국내 카드사 원화 이용 </a:t>
            </a:r>
            <a:r>
              <a:rPr lang="ko-KR" altLang="ko-KR" sz="1200" dirty="0" err="1">
                <a:solidFill>
                  <a:srgbClr val="0000FF"/>
                </a:solidFill>
                <a:latin typeface="+mn-ea"/>
              </a:rPr>
              <a:t>전표＇</a:t>
            </a:r>
            <a:r>
              <a:rPr lang="ko-KR" altLang="en-US" sz="1200" dirty="0" err="1">
                <a:solidFill>
                  <a:srgbClr val="0000FF"/>
                </a:solidFill>
                <a:latin typeface="+mn-ea"/>
              </a:rPr>
              <a:t>를</a:t>
            </a:r>
            <a:r>
              <a:rPr lang="ko-KR" altLang="en-US" sz="1200" dirty="0">
                <a:solidFill>
                  <a:srgbClr val="0000FF"/>
                </a:solidFill>
                <a:latin typeface="+mn-ea"/>
              </a:rPr>
              <a:t> 함께 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필수 첨부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200" b="1" dirty="0">
                <a:solidFill>
                  <a:srgbClr val="0000FF"/>
                </a:solidFill>
                <a:latin typeface="+mn-ea"/>
              </a:rPr>
              <a:t>초과 지출 처리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: 항목별 한도 초과 시 전체 영수증을 첨부하되, 세부 내역에 "총 ○○원 중 한도 금액인 ○○원만 청구함" 명기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200" b="1" dirty="0">
                <a:solidFill>
                  <a:srgbClr val="0000FF"/>
                </a:solidFill>
                <a:latin typeface="+mn-ea"/>
              </a:rPr>
              <a:t>증빙 제한</a:t>
            </a:r>
            <a:r>
              <a:rPr lang="ko-KR" altLang="ko-KR" sz="1200" dirty="0">
                <a:solidFill>
                  <a:srgbClr val="0000FF"/>
                </a:solidFill>
                <a:latin typeface="+mn-ea"/>
              </a:rPr>
              <a:t>: 간이영수증 사용 절대 불가, 자산취득성(기자재 등) 물품 구입 불가 </a:t>
            </a:r>
          </a:p>
          <a:p>
            <a:pPr>
              <a:lnSpc>
                <a:spcPct val="150000"/>
              </a:lnSpc>
              <a:defRPr/>
            </a:pPr>
            <a:endParaRPr lang="en-US" altLang="ko-KR" sz="1600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3094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21436-A1FA-FFC0-3E7A-72DE9E846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8922218-9210-D444-CC79-401ADC45A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151472"/>
              </p:ext>
            </p:extLst>
          </p:nvPr>
        </p:nvGraphicFramePr>
        <p:xfrm>
          <a:off x="465138" y="1672957"/>
          <a:ext cx="5908449" cy="185402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71167">
                  <a:extLst>
                    <a:ext uri="{9D8B030D-6E8A-4147-A177-3AD203B41FA5}">
                      <a16:colId xmlns:a16="http://schemas.microsoft.com/office/drawing/2014/main" val="1628538607"/>
                    </a:ext>
                  </a:extLst>
                </a:gridCol>
                <a:gridCol w="980030">
                  <a:extLst>
                    <a:ext uri="{9D8B030D-6E8A-4147-A177-3AD203B41FA5}">
                      <a16:colId xmlns:a16="http://schemas.microsoft.com/office/drawing/2014/main" val="351083601"/>
                    </a:ext>
                  </a:extLst>
                </a:gridCol>
                <a:gridCol w="1329956">
                  <a:extLst>
                    <a:ext uri="{9D8B030D-6E8A-4147-A177-3AD203B41FA5}">
                      <a16:colId xmlns:a16="http://schemas.microsoft.com/office/drawing/2014/main" val="3699129388"/>
                    </a:ext>
                  </a:extLst>
                </a:gridCol>
                <a:gridCol w="1732638">
                  <a:extLst>
                    <a:ext uri="{9D8B030D-6E8A-4147-A177-3AD203B41FA5}">
                      <a16:colId xmlns:a16="http://schemas.microsoft.com/office/drawing/2014/main" val="4031383978"/>
                    </a:ext>
                  </a:extLst>
                </a:gridCol>
                <a:gridCol w="1394658">
                  <a:extLst>
                    <a:ext uri="{9D8B030D-6E8A-4147-A177-3AD203B41FA5}">
                      <a16:colId xmlns:a16="http://schemas.microsoft.com/office/drawing/2014/main" val="2660106062"/>
                    </a:ext>
                  </a:extLst>
                </a:gridCol>
              </a:tblGrid>
              <a:tr h="3438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 No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 예산 구분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지출 일자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 세부 내역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소요 예산</a:t>
                      </a:r>
                      <a:r>
                        <a:rPr lang="en-US" altLang="ko-KR" sz="900" u="none" strike="noStrike" dirty="0">
                          <a:effectLst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</a:rPr>
                        <a:t>원</a:t>
                      </a:r>
                      <a:r>
                        <a:rPr lang="en-US" altLang="ko-KR" sz="900" u="none" strike="noStrike" dirty="0">
                          <a:effectLst/>
                        </a:rPr>
                        <a:t>)</a:t>
                      </a:r>
                      <a:br>
                        <a:rPr lang="ko-KR" altLang="en-US" sz="900" u="none" strike="noStrike" dirty="0">
                          <a:effectLst/>
                        </a:rPr>
                      </a:br>
                      <a:r>
                        <a:rPr lang="en-US" altLang="ko-KR" sz="900" u="none" strike="noStrike" dirty="0">
                          <a:effectLst/>
                        </a:rPr>
                        <a:t>(VAT/</a:t>
                      </a:r>
                      <a:r>
                        <a:rPr lang="ko-KR" altLang="en-US" sz="900" u="none" strike="noStrike" dirty="0">
                          <a:effectLst/>
                        </a:rPr>
                        <a:t>세금 포함</a:t>
                      </a:r>
                      <a:r>
                        <a:rPr lang="en-US" altLang="ko-KR" sz="900" u="none" strike="noStrike" dirty="0">
                          <a:effectLst/>
                        </a:rPr>
                        <a:t>)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1459113754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1 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연구 활동비 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26.11.02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세부 내역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사용 금액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2 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연구 활동비 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1348743131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연구 활동비 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029183094"/>
                  </a:ext>
                </a:extLst>
              </a:tr>
              <a:tr h="377555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합계</a:t>
                      </a: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연구 활동비 총 금액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2496531880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07AAEE2-0ECF-3D4D-C106-B9B91C00B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3192" y="9607828"/>
            <a:ext cx="6664808" cy="298172"/>
          </a:xfrm>
        </p:spPr>
        <p:txBody>
          <a:bodyPr/>
          <a:lstStyle/>
          <a:p>
            <a:fld id="{BA2B49F5-5A55-4F35-9D5E-CB13E0583997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FC587D-BC91-69CC-A6E7-FDD5BCD553B7}"/>
              </a:ext>
            </a:extLst>
          </p:cNvPr>
          <p:cNvSpPr/>
          <p:nvPr/>
        </p:nvSpPr>
        <p:spPr>
          <a:xfrm>
            <a:off x="465138" y="1240083"/>
            <a:ext cx="58100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ko-KR" altLang="en-US" sz="1400" dirty="0">
                <a:latin typeface="맑은 고딕" panose="020B0503020000020004" pitchFamily="50" charset="-127"/>
              </a:rPr>
              <a:t>연구 활동비 지출 세부 내역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782381-0045-2AE1-5C60-A07DDCB2BB2F}"/>
              </a:ext>
            </a:extLst>
          </p:cNvPr>
          <p:cNvSpPr/>
          <p:nvPr/>
        </p:nvSpPr>
        <p:spPr>
          <a:xfrm>
            <a:off x="465138" y="3652077"/>
            <a:ext cx="58100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ko-KR" altLang="en-US" sz="1400" dirty="0">
                <a:latin typeface="맑은 고딕" panose="020B0503020000020004" pitchFamily="50" charset="-127"/>
              </a:rPr>
              <a:t>연구 활동비 지출 항목별 증빙 자료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E6A3FE-6AA1-6A1A-C488-E722368F4AED}"/>
              </a:ext>
            </a:extLst>
          </p:cNvPr>
          <p:cNvSpPr/>
          <p:nvPr/>
        </p:nvSpPr>
        <p:spPr>
          <a:xfrm>
            <a:off x="395266" y="4012846"/>
            <a:ext cx="6260659" cy="4123052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*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파란색 글씨는 최종 제출시 모두 삭제하여 제출 부탁드립니다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[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연구 활동비 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최대 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1,000,000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원 이내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)]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세부 지급 기준 금액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외부 강사 수당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특별강사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Ⅰ(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시간당 기본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500,000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초과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500,000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/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특별강사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Ⅱ(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기본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300,000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초과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200,000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/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일반강사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Ⅰ(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기본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200,000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초과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100,000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/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일반강사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Ⅱ(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기본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120,000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초과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60,000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/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보조강사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시간당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40,000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원고료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A4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지 매당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14,000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시간당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3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매 이내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/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파워포인트 면당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7,000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시간당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6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면 이내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자료 개발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편집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검토 수당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일당으로 지급하며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2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시간 이하 기본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50,000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2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시간 초과 시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20,000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 가산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최대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30,000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원까지 가산 가능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 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여비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공무원여비규정 단가 준용하여 실비 지급  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주의사항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동아리 회원 대상 강사 수당 지급 불가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학교 여비와 중복 수령 불가  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b="1" dirty="0" err="1">
                <a:solidFill>
                  <a:srgbClr val="0000FF"/>
                </a:solidFill>
                <a:latin typeface="+mn-ea"/>
              </a:rPr>
              <a:t>필수증빙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 err="1">
                <a:solidFill>
                  <a:srgbClr val="0000FF"/>
                </a:solidFill>
                <a:latin typeface="+mn-ea"/>
              </a:rPr>
              <a:t>연수비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경비 영수증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출장 공문 관련 서류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 err="1">
                <a:solidFill>
                  <a:srgbClr val="0000FF"/>
                </a:solidFill>
                <a:latin typeface="+mn-ea"/>
              </a:rPr>
              <a:t>수당류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 지정 서식 일체 및 피지급자 명의 계좌이체 확인서</a:t>
            </a:r>
            <a:endParaRPr lang="en-US" altLang="ko-KR" sz="1600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917767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22C6-19BF-55B8-FEA3-569185EC4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FBC824-9157-922E-4DF5-C18F16AA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49F5-5A55-4F35-9D5E-CB13E0583997}" type="slidenum">
              <a:rPr lang="ko-KR" altLang="en-US" smtClean="0"/>
              <a:pPr/>
              <a:t>4</a:t>
            </a:fld>
            <a:endParaRPr lang="ko-KR" altLang="en-US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83E7843-48F3-F00E-8344-D0F3016A6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699851"/>
              </p:ext>
            </p:extLst>
          </p:nvPr>
        </p:nvGraphicFramePr>
        <p:xfrm>
          <a:off x="465138" y="1672957"/>
          <a:ext cx="5908449" cy="185402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71167">
                  <a:extLst>
                    <a:ext uri="{9D8B030D-6E8A-4147-A177-3AD203B41FA5}">
                      <a16:colId xmlns:a16="http://schemas.microsoft.com/office/drawing/2014/main" val="1628538607"/>
                    </a:ext>
                  </a:extLst>
                </a:gridCol>
                <a:gridCol w="980030">
                  <a:extLst>
                    <a:ext uri="{9D8B030D-6E8A-4147-A177-3AD203B41FA5}">
                      <a16:colId xmlns:a16="http://schemas.microsoft.com/office/drawing/2014/main" val="351083601"/>
                    </a:ext>
                  </a:extLst>
                </a:gridCol>
                <a:gridCol w="1329956">
                  <a:extLst>
                    <a:ext uri="{9D8B030D-6E8A-4147-A177-3AD203B41FA5}">
                      <a16:colId xmlns:a16="http://schemas.microsoft.com/office/drawing/2014/main" val="3699129388"/>
                    </a:ext>
                  </a:extLst>
                </a:gridCol>
                <a:gridCol w="1732638">
                  <a:extLst>
                    <a:ext uri="{9D8B030D-6E8A-4147-A177-3AD203B41FA5}">
                      <a16:colId xmlns:a16="http://schemas.microsoft.com/office/drawing/2014/main" val="4031383978"/>
                    </a:ext>
                  </a:extLst>
                </a:gridCol>
                <a:gridCol w="1394658">
                  <a:extLst>
                    <a:ext uri="{9D8B030D-6E8A-4147-A177-3AD203B41FA5}">
                      <a16:colId xmlns:a16="http://schemas.microsoft.com/office/drawing/2014/main" val="2660106062"/>
                    </a:ext>
                  </a:extLst>
                </a:gridCol>
              </a:tblGrid>
              <a:tr h="3438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 No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 예산 구분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지출 일자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 세부 내역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소요 예산</a:t>
                      </a:r>
                      <a:r>
                        <a:rPr lang="en-US" altLang="ko-KR" sz="900" u="none" strike="noStrike" dirty="0">
                          <a:effectLst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</a:rPr>
                        <a:t>원</a:t>
                      </a:r>
                      <a:r>
                        <a:rPr lang="en-US" altLang="ko-KR" sz="900" u="none" strike="noStrike" dirty="0">
                          <a:effectLst/>
                        </a:rPr>
                        <a:t>)</a:t>
                      </a:r>
                      <a:br>
                        <a:rPr lang="ko-KR" altLang="en-US" sz="900" u="none" strike="noStrike" dirty="0">
                          <a:effectLst/>
                        </a:rPr>
                      </a:br>
                      <a:r>
                        <a:rPr lang="en-US" altLang="ko-KR" sz="900" u="none" strike="noStrike" dirty="0">
                          <a:effectLst/>
                        </a:rPr>
                        <a:t>(VAT/</a:t>
                      </a:r>
                      <a:r>
                        <a:rPr lang="ko-KR" altLang="en-US" sz="900" u="none" strike="noStrike" dirty="0">
                          <a:effectLst/>
                        </a:rPr>
                        <a:t>세금 포함</a:t>
                      </a:r>
                      <a:r>
                        <a:rPr lang="en-US" altLang="ko-KR" sz="900" u="none" strike="noStrike" dirty="0">
                          <a:effectLst/>
                        </a:rPr>
                        <a:t>)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1459113754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1 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연수 운영비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26.11.02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세부 내역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사용 금액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2 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연수 운영비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1348743131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연수 운영비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029183094"/>
                  </a:ext>
                </a:extLst>
              </a:tr>
              <a:tr h="377555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합계</a:t>
                      </a: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연수 운영비 총 금액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2496531880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FB73DA8A-1633-AE39-0261-411578E56C79}"/>
              </a:ext>
            </a:extLst>
          </p:cNvPr>
          <p:cNvSpPr/>
          <p:nvPr/>
        </p:nvSpPr>
        <p:spPr>
          <a:xfrm>
            <a:off x="465138" y="1240083"/>
            <a:ext cx="58100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ko-KR" altLang="en-US" sz="1400" dirty="0">
                <a:latin typeface="맑은 고딕" panose="020B0503020000020004" pitchFamily="50" charset="-127"/>
              </a:rPr>
              <a:t>연수 운영비 지출 세부 내역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573FE18-DD5B-A468-849E-2D17FFA8C8B0}"/>
              </a:ext>
            </a:extLst>
          </p:cNvPr>
          <p:cNvSpPr/>
          <p:nvPr/>
        </p:nvSpPr>
        <p:spPr>
          <a:xfrm>
            <a:off x="465138" y="3652077"/>
            <a:ext cx="58100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ko-KR" altLang="en-US" sz="1400" dirty="0">
                <a:latin typeface="맑은 고딕" panose="020B0503020000020004" pitchFamily="50" charset="-127"/>
              </a:rPr>
              <a:t>연수 운영비 지출 항목별 증빙 자료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3D73BE0-5788-F8E3-D6B8-57C3A45E7F1B}"/>
              </a:ext>
            </a:extLst>
          </p:cNvPr>
          <p:cNvSpPr/>
          <p:nvPr/>
        </p:nvSpPr>
        <p:spPr>
          <a:xfrm>
            <a:off x="395266" y="4638948"/>
            <a:ext cx="6260659" cy="1353063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*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파란색 글씨는 최종 제출시 모두 삭제하여 제출 부탁드립니다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[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연수 운영비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]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주의사항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동아리 운영 목적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시설 임차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인쇄 등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에만 사용  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b="1" dirty="0" err="1">
                <a:solidFill>
                  <a:srgbClr val="0000FF"/>
                </a:solidFill>
                <a:latin typeface="+mn-ea"/>
              </a:rPr>
              <a:t>필수증빙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상세 품목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단가가 적힌 지출 내역서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신용카드 매출전표 또는 세금계산서</a:t>
            </a:r>
            <a:endParaRPr lang="en-US" altLang="ko-KR" sz="1600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0716403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B46AC-EF1C-C00F-8644-7C60B336D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17FA73-9D2C-2736-EBC3-DAAAB5B0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49F5-5A55-4F35-9D5E-CB13E0583997}" type="slidenum">
              <a:rPr lang="ko-KR" altLang="en-US" smtClean="0"/>
              <a:pPr/>
              <a:t>5</a:t>
            </a:fld>
            <a:endParaRPr lang="ko-KR" altLang="en-US"/>
          </a:p>
        </p:txBody>
      </p:sp>
      <p:graphicFrame>
        <p:nvGraphicFramePr>
          <p:cNvPr id="12" name="표 11">
            <a:extLst>
              <a:ext uri="{FF2B5EF4-FFF2-40B4-BE49-F238E27FC236}" cy="5671358">
                <a16:creationId xmlns:a16="http://schemas.microsoft.com/office/drawing/2014/main" id="{D56C03BF-6BC9-B747-F58D-DCB9E1A4A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33901"/>
              </p:ext>
            </p:extLst>
          </p:nvPr>
        </p:nvGraphicFramePr>
        <p:xfrm>
          <a:off x="465138" y="1672957"/>
          <a:ext cx="5908449" cy="185402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71167">
                  <a:extLst>
                    <a:ext uri="{9D8B030D-6E8A-4147-A177-3AD203B41FA5}">
                      <a16:colId xmlns:a16="http://schemas.microsoft.com/office/drawing/2014/main" val="1628538607"/>
                    </a:ext>
                  </a:extLst>
                </a:gridCol>
                <a:gridCol w="980030">
                  <a:extLst>
                    <a:ext uri="{9D8B030D-6E8A-4147-A177-3AD203B41FA5}">
                      <a16:colId xmlns:a16="http://schemas.microsoft.com/office/drawing/2014/main" val="351083601"/>
                    </a:ext>
                  </a:extLst>
                </a:gridCol>
                <a:gridCol w="1329956">
                  <a:extLst>
                    <a:ext uri="{9D8B030D-6E8A-4147-A177-3AD203B41FA5}">
                      <a16:colId xmlns:a16="http://schemas.microsoft.com/office/drawing/2014/main" val="3699129388"/>
                    </a:ext>
                  </a:extLst>
                </a:gridCol>
                <a:gridCol w="1732638">
                  <a:extLst>
                    <a:ext uri="{9D8B030D-6E8A-4147-A177-3AD203B41FA5}">
                      <a16:colId xmlns:a16="http://schemas.microsoft.com/office/drawing/2014/main" val="4031383978"/>
                    </a:ext>
                  </a:extLst>
                </a:gridCol>
                <a:gridCol w="1394658">
                  <a:extLst>
                    <a:ext uri="{9D8B030D-6E8A-4147-A177-3AD203B41FA5}">
                      <a16:colId xmlns:a16="http://schemas.microsoft.com/office/drawing/2014/main" val="2660106062"/>
                    </a:ext>
                  </a:extLst>
                </a:gridCol>
              </a:tblGrid>
              <a:tr h="3438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 No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 예산 구분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지출 일자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 세부 내역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소요 예산</a:t>
                      </a:r>
                      <a:r>
                        <a:rPr lang="en-US" altLang="ko-KR" sz="900" u="none" strike="noStrike" dirty="0">
                          <a:effectLst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</a:rPr>
                        <a:t>원</a:t>
                      </a:r>
                      <a:r>
                        <a:rPr lang="en-US" altLang="ko-KR" sz="900" u="none" strike="noStrike" dirty="0">
                          <a:effectLst/>
                        </a:rPr>
                        <a:t>)</a:t>
                      </a:r>
                      <a:br>
                        <a:rPr lang="ko-KR" altLang="en-US" sz="900" u="none" strike="noStrike" dirty="0">
                          <a:effectLst/>
                        </a:rPr>
                      </a:br>
                      <a:r>
                        <a:rPr lang="en-US" altLang="ko-KR" sz="900" u="none" strike="noStrike" dirty="0">
                          <a:effectLst/>
                        </a:rPr>
                        <a:t>(VAT/</a:t>
                      </a:r>
                      <a:r>
                        <a:rPr lang="ko-KR" altLang="en-US" sz="900" u="none" strike="noStrike" dirty="0">
                          <a:effectLst/>
                        </a:rPr>
                        <a:t>세금 포함</a:t>
                      </a:r>
                      <a:r>
                        <a:rPr lang="en-US" altLang="ko-KR" sz="900" u="none" strike="noStrike" dirty="0">
                          <a:effectLst/>
                        </a:rPr>
                        <a:t>)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145911375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1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2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134874313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02918309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4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5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6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7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8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9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10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11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12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13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14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15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77555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합계</a:t>
                      </a: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/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2496531880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AB0EC1F6-85D9-8DEB-D902-AC1382E6D99B}"/>
              </a:ext>
            </a:extLst>
          </p:cNvPr>
          <p:cNvSpPr/>
          <p:nvPr/>
        </p:nvSpPr>
        <p:spPr>
          <a:xfrm>
            <a:off x="465138" y="1240083"/>
            <a:ext cx="58100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ko-KR" altLang="en-US" sz="1400" dirty="0">
                <a:latin typeface="맑은 고딕" panose="020B0503020000020004" pitchFamily="50" charset="-127"/>
              </a:rPr>
              <a:t>직접성 경비 지출 세부 내역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CE672FF-B03C-E5B2-6456-A9AEFFA4CF0C}"/>
              </a:ext>
            </a:extLst>
          </p:cNvPr>
          <p:cNvSpPr/>
          <p:nvPr/>
        </p:nvSpPr>
        <p:spPr>
          <a:xfrm>
            <a:off x="465138" y="7494315"/>
            <a:ext cx="58100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solidFill>
                  <a:srgbClr val="00000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</a:rPr>
              <a:t>직접성 경비 </a:t>
            </a:r>
            <a:r>
              <a:rPr lang="ko-KR" altLang="en-US" sz="1400" dirty="0">
                <a:latin typeface="맑은 고딕" panose="020B0503020000020004" pitchFamily="50" charset="-127"/>
              </a:rPr>
              <a:t>지출 항목별 영수증</a:t>
            </a:r>
          </a:p>
        </p:txBody>
      </p:sp>
      <p:sp>
        <p:nvSpPr>
          <p:cNvPr id="2" name="직사각형 1">
            <a:extLst>
              <a:ext uri="{FF2B5EF4-FFF2-40B4-BE49-F238E27FC236}" cy="1200000">
                <a16:creationId xmlns:a16="http://schemas.microsoft.com/office/drawing/2014/main" id="{36A36E19-1144-ED82-6262-4078AFB9FBBE}"/>
              </a:ext>
            </a:extLst>
          </p:cNvPr>
          <p:cNvSpPr/>
          <p:nvPr/>
        </p:nvSpPr>
        <p:spPr>
          <a:xfrm>
            <a:off x="395266" y="8350000"/>
            <a:ext cx="6260659" cy="163006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sz="800">
                <a:solidFill>
                  <a:srgbClr val="0000FF"/>
                </a:solidFill>
                <a:ea typeface="맑은 고딕"/>
              </a:rPr>
              <a:t>* 파란색 글씨는 최종 제출 시 모두 삭제하여 제출 부탁드립니다.</a:t>
            </a:r>
          </a:p>
          <a:p>
            <a:r>
              <a:rPr sz="800">
                <a:solidFill>
                  <a:srgbClr val="0000FF"/>
                </a:solidFill>
                <a:ea typeface="맑은 고딕"/>
              </a:rPr>
              <a:t>[직접성 경비] 주의사항: 노트북·태블릿 등 자산취득성 물품 구입 금지, AI 구독료는 동아리 활동 기간 내 내역만 인정</a:t>
            </a:r>
          </a:p>
          <a:p>
            <a:r>
              <a:rPr sz="800">
                <a:solidFill>
                  <a:srgbClr val="0000FF"/>
                </a:solidFill>
                <a:ea typeface="맑은 고딕"/>
              </a:rPr>
              <a:t>필수증빙: 구매 내역서, 신용카드 영수증 (해외 결제 시 국내 카드사 원화 결제금액 함께 첨부)</a:t>
            </a:r>
          </a:p>
        </p:txBody>
      </p:sp>
    </p:spTree>
    <p:extLst>
      <p:ext uri="{BB962C8B-B14F-4D97-AF65-F5344CB8AC3E}">
        <p14:creationId xmlns:p14="http://schemas.microsoft.com/office/powerpoint/2010/main" val="778951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AB6A10-941B-A4E7-A3D1-13FB2DF34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B49F5-5A55-4F35-9D5E-CB13E0583997}" type="slidenum">
              <a:rPr lang="ko-KR" altLang="en-US" smtClean="0"/>
              <a:pPr/>
              <a:t>6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8EB8607-4D93-1BF1-7C1A-78DBA3CE8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387380"/>
              </p:ext>
            </p:extLst>
          </p:nvPr>
        </p:nvGraphicFramePr>
        <p:xfrm>
          <a:off x="465138" y="1672957"/>
          <a:ext cx="5908449" cy="185402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71167">
                  <a:extLst>
                    <a:ext uri="{9D8B030D-6E8A-4147-A177-3AD203B41FA5}">
                      <a16:colId xmlns:a16="http://schemas.microsoft.com/office/drawing/2014/main" val="1628538607"/>
                    </a:ext>
                  </a:extLst>
                </a:gridCol>
                <a:gridCol w="980030">
                  <a:extLst>
                    <a:ext uri="{9D8B030D-6E8A-4147-A177-3AD203B41FA5}">
                      <a16:colId xmlns:a16="http://schemas.microsoft.com/office/drawing/2014/main" val="351083601"/>
                    </a:ext>
                  </a:extLst>
                </a:gridCol>
                <a:gridCol w="1329956">
                  <a:extLst>
                    <a:ext uri="{9D8B030D-6E8A-4147-A177-3AD203B41FA5}">
                      <a16:colId xmlns:a16="http://schemas.microsoft.com/office/drawing/2014/main" val="3699129388"/>
                    </a:ext>
                  </a:extLst>
                </a:gridCol>
                <a:gridCol w="1732638">
                  <a:extLst>
                    <a:ext uri="{9D8B030D-6E8A-4147-A177-3AD203B41FA5}">
                      <a16:colId xmlns:a16="http://schemas.microsoft.com/office/drawing/2014/main" val="4031383978"/>
                    </a:ext>
                  </a:extLst>
                </a:gridCol>
                <a:gridCol w="1394658">
                  <a:extLst>
                    <a:ext uri="{9D8B030D-6E8A-4147-A177-3AD203B41FA5}">
                      <a16:colId xmlns:a16="http://schemas.microsoft.com/office/drawing/2014/main" val="2660106062"/>
                    </a:ext>
                  </a:extLst>
                </a:gridCol>
              </a:tblGrid>
              <a:tr h="3438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 No 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 예산 구분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지출 일자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 세부 내역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</a:rPr>
                        <a:t>소요 예산</a:t>
                      </a:r>
                      <a:r>
                        <a:rPr lang="en-US" altLang="ko-KR" sz="900" u="none" strike="noStrike" dirty="0">
                          <a:effectLst/>
                        </a:rPr>
                        <a:t>(</a:t>
                      </a:r>
                      <a:r>
                        <a:rPr lang="ko-KR" altLang="en-US" sz="900" u="none" strike="noStrike" dirty="0">
                          <a:effectLst/>
                        </a:rPr>
                        <a:t>원</a:t>
                      </a:r>
                      <a:r>
                        <a:rPr lang="en-US" altLang="ko-KR" sz="900" u="none" strike="noStrike" dirty="0">
                          <a:effectLst/>
                        </a:rPr>
                        <a:t>)</a:t>
                      </a:r>
                      <a:br>
                        <a:rPr lang="ko-KR" altLang="en-US" sz="900" u="none" strike="noStrike" dirty="0">
                          <a:effectLst/>
                        </a:rPr>
                      </a:br>
                      <a:r>
                        <a:rPr lang="en-US" altLang="ko-KR" sz="900" u="none" strike="noStrike" dirty="0">
                          <a:effectLst/>
                        </a:rPr>
                        <a:t>(VAT/</a:t>
                      </a:r>
                      <a:r>
                        <a:rPr lang="ko-KR" altLang="en-US" sz="900" u="none" strike="noStrike" dirty="0">
                          <a:effectLst/>
                        </a:rPr>
                        <a:t>세금 포함</a:t>
                      </a:r>
                      <a:r>
                        <a:rPr lang="en-US" altLang="ko-KR" sz="900" u="none" strike="noStrike" dirty="0">
                          <a:effectLst/>
                        </a:rPr>
                        <a:t>)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1459113754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1 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</a:rPr>
                        <a:t>업무 협의회비 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26.11.02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세부 내역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사용 금액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639418345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2 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</a:rPr>
                        <a:t>업무 협의회비 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1348743131"/>
                  </a:ext>
                </a:extLst>
              </a:tr>
              <a:tr h="3775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3</a:t>
                      </a: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</a:rPr>
                        <a:t>업무 협의회비 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  <a:endParaRPr lang="ko-KR" altLang="en-US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…</a:t>
                      </a: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3029183094"/>
                  </a:ext>
                </a:extLst>
              </a:tr>
              <a:tr h="377555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합계</a:t>
                      </a: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900" b="0" i="0" u="none" strike="noStrike" kern="1200">
                        <a:solidFill>
                          <a:srgbClr val="000000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FF"/>
                          </a:solidFill>
                          <a:effectLst/>
                          <a:latin typeface="Microsoft GothicNeo" panose="020B0500000101010101" pitchFamily="50" charset="-127"/>
                          <a:ea typeface="Microsoft GothicNeo" panose="020B0500000101010101" pitchFamily="50" charset="-127"/>
                          <a:cs typeface="+mn-cs"/>
                        </a:rPr>
                        <a:t>업무 협의회비 총 금액 기입</a:t>
                      </a:r>
                      <a:endParaRPr lang="en-US" altLang="ko-KR" sz="900" b="0" i="0" u="none" strike="noStrike" kern="1200" dirty="0">
                        <a:solidFill>
                          <a:srgbClr val="0000FF"/>
                        </a:solidFill>
                        <a:effectLst/>
                        <a:latin typeface="Microsoft GothicNeo" panose="020B0500000101010101" pitchFamily="50" charset="-127"/>
                        <a:ea typeface="Microsoft GothicNeo" panose="020B0500000101010101" pitchFamily="50" charset="-127"/>
                        <a:cs typeface="+mn-cs"/>
                      </a:endParaRPr>
                    </a:p>
                  </a:txBody>
                  <a:tcPr marL="5721" marR="5721" marT="5721" marB="0" anchor="ctr"/>
                </a:tc>
                <a:extLst>
                  <a:ext uri="{0D108BD9-81ED-4DB2-BD59-A6C34878D82A}">
                    <a16:rowId xmlns:a16="http://schemas.microsoft.com/office/drawing/2014/main" val="2496531880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062D2867-609C-4CD7-F08D-44C4D2F0D410}"/>
              </a:ext>
            </a:extLst>
          </p:cNvPr>
          <p:cNvSpPr/>
          <p:nvPr/>
        </p:nvSpPr>
        <p:spPr>
          <a:xfrm>
            <a:off x="465138" y="3652077"/>
            <a:ext cx="58100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atin typeface="맑은 고딕" panose="020B0503020000020004" pitchFamily="50" charset="-127"/>
              </a:rPr>
              <a:t>업무 협의회비 지출 항목별 영수증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58FDDC-478B-CD79-376B-34294888C75D}"/>
              </a:ext>
            </a:extLst>
          </p:cNvPr>
          <p:cNvSpPr/>
          <p:nvPr/>
        </p:nvSpPr>
        <p:spPr>
          <a:xfrm>
            <a:off x="465138" y="1240083"/>
            <a:ext cx="581004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ko-KR" altLang="en-US" sz="1400" dirty="0">
                <a:latin typeface="맑은 고딕" panose="020B0503020000020004" pitchFamily="50" charset="-127"/>
              </a:rPr>
              <a:t>업무 협의회비 지출 세부 내역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C6AD199-F66A-9769-0EA9-16D462C446A9}"/>
              </a:ext>
            </a:extLst>
          </p:cNvPr>
          <p:cNvSpPr/>
          <p:nvPr/>
        </p:nvSpPr>
        <p:spPr>
          <a:xfrm>
            <a:off x="523978" y="3959854"/>
            <a:ext cx="581004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*20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만원 한도 준수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4B525B-CD0A-2E7A-F511-617A94779195}"/>
              </a:ext>
            </a:extLst>
          </p:cNvPr>
          <p:cNvSpPr/>
          <p:nvPr/>
        </p:nvSpPr>
        <p:spPr>
          <a:xfrm>
            <a:off x="395266" y="4500449"/>
            <a:ext cx="6260659" cy="163006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*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파란색 글씨는 최종 제출시 모두 삭제하여 제출 부탁드립니다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[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업무 협의회비 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최대 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200,000</a:t>
            </a:r>
            <a:r>
              <a:rPr lang="ko-KR" altLang="en-US" sz="1600" dirty="0">
                <a:solidFill>
                  <a:srgbClr val="0000FF"/>
                </a:solidFill>
                <a:latin typeface="+mn-ea"/>
              </a:rPr>
              <a:t>원 이내</a:t>
            </a:r>
            <a:r>
              <a:rPr lang="en-US" altLang="ko-KR" sz="1600" dirty="0">
                <a:solidFill>
                  <a:srgbClr val="0000FF"/>
                </a:solidFill>
                <a:latin typeface="+mn-ea"/>
              </a:rPr>
              <a:t>)]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세부 지급 기준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식비 및 다과비로만 집행 가능함  </a:t>
            </a:r>
            <a:endParaRPr lang="en-US" altLang="ko-KR" sz="1200" b="1" dirty="0">
              <a:solidFill>
                <a:srgbClr val="0000FF"/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주의사항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영수증만 제출 시 반려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증빙용 </a:t>
            </a:r>
            <a:r>
              <a:rPr lang="ko-KR" altLang="en-US" sz="1200" b="1" dirty="0" err="1">
                <a:solidFill>
                  <a:srgbClr val="0000FF"/>
                </a:solidFill>
                <a:latin typeface="+mn-ea"/>
              </a:rPr>
              <a:t>협의록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 필수 첨부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200" b="1" dirty="0" err="1">
                <a:solidFill>
                  <a:srgbClr val="0000FF"/>
                </a:solidFill>
                <a:latin typeface="+mn-ea"/>
              </a:rPr>
              <a:t>필수증빙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신용카드 영수증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지정 양식에 맞춘 동아리 </a:t>
            </a:r>
            <a:r>
              <a:rPr lang="ko-KR" altLang="en-US" sz="1200" b="1" dirty="0" err="1">
                <a:solidFill>
                  <a:srgbClr val="0000FF"/>
                </a:solidFill>
                <a:latin typeface="+mn-ea"/>
              </a:rPr>
              <a:t>협의록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 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일시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장소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주제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내용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명단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200" b="1" dirty="0">
                <a:solidFill>
                  <a:srgbClr val="0000FF"/>
                </a:solidFill>
                <a:latin typeface="+mn-ea"/>
              </a:rPr>
              <a:t>사진 포함</a:t>
            </a:r>
            <a:r>
              <a:rPr lang="en-US" altLang="ko-KR" sz="1200" b="1" dirty="0">
                <a:solidFill>
                  <a:srgbClr val="0000FF"/>
                </a:solidFill>
                <a:latin typeface="+mn-ea"/>
              </a:rPr>
              <a:t>) </a:t>
            </a:r>
            <a:endParaRPr lang="en-US" altLang="ko-KR" sz="1600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4639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1448</TotalTime>
  <Words>931</Words>
  <Application>Microsoft Office PowerPoint</Application>
  <PresentationFormat>A4 용지(210x297mm)</PresentationFormat>
  <Paragraphs>198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HY헤드라인M</vt:lpstr>
      <vt:lpstr>Microsoft GothicNeo</vt:lpstr>
      <vt:lpstr>맑은 고딕</vt:lpstr>
      <vt:lpstr>바탕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 jaewoo</dc:creator>
  <cp:lastModifiedBy>KuSangyoung</cp:lastModifiedBy>
  <cp:revision>3</cp:revision>
  <cp:lastPrinted>2026-06-24T11:12:28Z</cp:lastPrinted>
  <dcterms:created xsi:type="dcterms:W3CDTF">2021-01-04T04:15:18Z</dcterms:created>
  <dcterms:modified xsi:type="dcterms:W3CDTF">2026-06-25T04:13:08Z</dcterms:modified>
</cp:coreProperties>
</file>